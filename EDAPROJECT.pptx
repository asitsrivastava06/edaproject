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3" r:id="rId10"/>
    <p:sldId id="272" r:id="rId11"/>
    <p:sldId id="269" r:id="rId12"/>
    <p:sldId id="270" r:id="rId13"/>
    <p:sldId id="271" r:id="rId14"/>
    <p:sldId id="273" r:id="rId15"/>
    <p:sldId id="274" r:id="rId16"/>
    <p:sldId id="275" r:id="rId17"/>
    <p:sldId id="262" r:id="rId18"/>
    <p:sldId id="277" r:id="rId19"/>
    <p:sldId id="278" r:id="rId20"/>
    <p:sldId id="279" r:id="rId21"/>
    <p:sldId id="265" r:id="rId22"/>
    <p:sldId id="276" r:id="rId23"/>
  </p:sldIdLst>
  <p:sldSz cx="14630400" cy="8229600"/>
  <p:notesSz cx="8229600" cy="14630400"/>
  <p:embeddedFontLs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Manrope" panose="020B0604020202020204" charset="0"/>
      <p:regular r:id="rId29"/>
    </p:embeddedFont>
    <p:embeddedFont>
      <p:font typeface="Prata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1416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2032546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Retail Sales Forecasting using EDA and Time Series in Python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997523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Team:-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Dev Anand -25070123039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Asit Srivastav-25070123026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Rohan kumbhar-25070123141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Dolly Dalal-25070123044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1550" dirty="0">
              <a:solidFill>
                <a:srgbClr val="BDA189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sz="1550" dirty="0">
              <a:solidFill>
                <a:srgbClr val="BDA189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sz="1550" dirty="0">
              <a:solidFill>
                <a:srgbClr val="BDA189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Year:2025-29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1550" dirty="0">
              <a:solidFill>
                <a:srgbClr val="BDA189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                 </a:t>
            </a:r>
          </a:p>
          <a:p>
            <a:pPr>
              <a:lnSpc>
                <a:spcPts val="2500"/>
              </a:lnSpc>
            </a:pPr>
            <a:r>
              <a:rPr lang="en-US" sz="15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Course:</a:t>
            </a: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550" dirty="0" err="1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B.Tech</a:t>
            </a: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Electronics &amp; Telecommunication Engineering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endParaRPr lang="en-US" sz="1550" dirty="0">
              <a:solidFill>
                <a:srgbClr val="BDA189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sz="1550" dirty="0">
              <a:solidFill>
                <a:srgbClr val="BDA189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sz="1550" dirty="0">
              <a:solidFill>
                <a:srgbClr val="BDA189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7015802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Institute:</a:t>
            </a: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Symbiosis Institute of Technology, Pune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280189" y="6028773"/>
            <a:ext cx="2408992" cy="373142"/>
          </a:xfrm>
          <a:prstGeom prst="roundRect">
            <a:avLst>
              <a:gd name="adj" fmla="val 6383"/>
            </a:avLst>
          </a:prstGeom>
          <a:solidFill>
            <a:srgbClr val="391F13"/>
          </a:solidFill>
          <a:ln/>
        </p:spPr>
      </p:sp>
      <p:sp>
        <p:nvSpPr>
          <p:cNvPr id="7" name="Text 4"/>
          <p:cNvSpPr/>
          <p:nvPr/>
        </p:nvSpPr>
        <p:spPr>
          <a:xfrm>
            <a:off x="6280190" y="6084375"/>
            <a:ext cx="217086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MINI PROJECT PRESENTATION</a:t>
            </a:r>
            <a:endParaRPr lang="en-US" sz="12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3A80AA-A8CA-618A-9603-E8B626BA0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8229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9300E9-C785-9F4A-1A6D-CEC4CC898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9764" y="7650220"/>
            <a:ext cx="1723955" cy="5408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98571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Introduction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1903452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Retail sales analysis is the systematic examination of transactional data to uncover patterns, trends, and insights that drive smarter business decisions. In today's competitive market, data-driven strategies are no longer optional — they are essential for survival and growth.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80190" y="3396853"/>
            <a:ext cx="7556421" cy="1824276"/>
          </a:xfrm>
          <a:prstGeom prst="roundRect">
            <a:avLst>
              <a:gd name="adj" fmla="val 6015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57330" y="3396853"/>
            <a:ext cx="91440" cy="1824276"/>
          </a:xfrm>
          <a:prstGeom prst="roundRect">
            <a:avLst>
              <a:gd name="adj" fmla="val 32558"/>
            </a:avLst>
          </a:prstGeom>
          <a:solidFill>
            <a:srgbClr val="84482D"/>
          </a:solidFill>
          <a:ln/>
        </p:spPr>
      </p:sp>
      <p:sp>
        <p:nvSpPr>
          <p:cNvPr id="7" name="Text 4"/>
          <p:cNvSpPr/>
          <p:nvPr/>
        </p:nvSpPr>
        <p:spPr>
          <a:xfrm>
            <a:off x="6569988" y="3618071"/>
            <a:ext cx="351353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 is Retail Sales Analysis?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6569988" y="4047292"/>
            <a:ext cx="704540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process of collecting, processing, and interpreting sales data to understand customer behavior, product performance, and market dynamics over time.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280190" y="5419487"/>
            <a:ext cx="7556421" cy="1824276"/>
          </a:xfrm>
          <a:prstGeom prst="roundRect">
            <a:avLst>
              <a:gd name="adj" fmla="val 6015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57330" y="5419487"/>
            <a:ext cx="91440" cy="1824276"/>
          </a:xfrm>
          <a:prstGeom prst="roundRect">
            <a:avLst>
              <a:gd name="adj" fmla="val 32558"/>
            </a:avLst>
          </a:prstGeom>
          <a:solidFill>
            <a:srgbClr val="84482D"/>
          </a:solidFill>
          <a:ln/>
        </p:spPr>
      </p:sp>
      <p:sp>
        <p:nvSpPr>
          <p:cNvPr id="11" name="Text 8"/>
          <p:cNvSpPr/>
          <p:nvPr/>
        </p:nvSpPr>
        <p:spPr>
          <a:xfrm>
            <a:off x="6569988" y="564070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Why Python &amp; EDA?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6569988" y="6069925"/>
            <a:ext cx="704540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Python offers powerful libraries for data manipulation and visualization. Exploratory Data Analysis (EDA) helps uncover hidden patterns before building predictive models.</a:t>
            </a:r>
            <a:endParaRPr lang="en-US" sz="15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44D2830-8B4B-2BAD-99BC-5045F1CA2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172"/>
            <a:ext cx="6058971" cy="81904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51B920E-4895-3FA9-1C19-67FE3B854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9764" y="7650220"/>
            <a:ext cx="1723955" cy="5408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49605"/>
            <a:ext cx="7674650" cy="60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Background &amp; Project Objectives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630555" y="1529715"/>
            <a:ext cx="6588562" cy="6050161"/>
          </a:xfrm>
          <a:prstGeom prst="roundRect">
            <a:avLst>
              <a:gd name="adj" fmla="val 477"/>
            </a:avLst>
          </a:prstGeom>
          <a:solidFill>
            <a:srgbClr val="84482D"/>
          </a:solidFill>
          <a:ln/>
        </p:spPr>
      </p:sp>
      <p:sp>
        <p:nvSpPr>
          <p:cNvPr id="4" name="Text 2"/>
          <p:cNvSpPr/>
          <p:nvPr/>
        </p:nvSpPr>
        <p:spPr>
          <a:xfrm>
            <a:off x="822722" y="1715929"/>
            <a:ext cx="240339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Dataset Overview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22722" y="2202537"/>
            <a:ext cx="6204228" cy="121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project uses a retail transaction dataset containing approximately </a:t>
            </a: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1,000 entries</a:t>
            </a:r>
            <a:r>
              <a:rPr lang="en-US" sz="15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Each record captures customer demographics, product categories, sales amounts, quantities, and transaction dates — providing a rich foundation for analysis.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722" y="3581162"/>
            <a:ext cx="6204228" cy="1406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demographics (age, gender)</a:t>
            </a:r>
            <a:endParaRPr lang="en-US" sz="15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 categories and pricing</a:t>
            </a:r>
            <a:endParaRPr lang="en-US" sz="15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Sales amounts and quantities</a:t>
            </a:r>
            <a:endParaRPr lang="en-US" sz="15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Transaction dates for time-series analysis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57373" y="1715929"/>
            <a:ext cx="240339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Project Objectives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7557373" y="2225754"/>
            <a:ext cx="432554" cy="432554"/>
          </a:xfrm>
          <a:prstGeom prst="roundRect">
            <a:avLst>
              <a:gd name="adj" fmla="val 6668"/>
            </a:avLst>
          </a:prstGeom>
          <a:solidFill>
            <a:srgbClr val="404245"/>
          </a:solidFill>
          <a:ln/>
        </p:spPr>
      </p:sp>
      <p:sp>
        <p:nvSpPr>
          <p:cNvPr id="9" name="Text 7"/>
          <p:cNvSpPr/>
          <p:nvPr/>
        </p:nvSpPr>
        <p:spPr>
          <a:xfrm>
            <a:off x="7629406" y="2261771"/>
            <a:ext cx="288369" cy="36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176141" y="2291834"/>
            <a:ext cx="3154323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Analyze Sales Performance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176141" y="2778443"/>
            <a:ext cx="5692854" cy="60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Understand which categories and segments drive the most revenue.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557373" y="3756422"/>
            <a:ext cx="432554" cy="432554"/>
          </a:xfrm>
          <a:prstGeom prst="roundRect">
            <a:avLst>
              <a:gd name="adj" fmla="val 6668"/>
            </a:avLst>
          </a:prstGeom>
          <a:solidFill>
            <a:srgbClr val="404245"/>
          </a:solidFill>
          <a:ln/>
        </p:spPr>
      </p:sp>
      <p:sp>
        <p:nvSpPr>
          <p:cNvPr id="13" name="Text 11"/>
          <p:cNvSpPr/>
          <p:nvPr/>
        </p:nvSpPr>
        <p:spPr>
          <a:xfrm>
            <a:off x="7629406" y="3792438"/>
            <a:ext cx="288369" cy="36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8176141" y="3822502"/>
            <a:ext cx="3666292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Understand Customer Behavior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176141" y="4309110"/>
            <a:ext cx="5692854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Segment customers by demographics and purchasing patterns.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57373" y="4984313"/>
            <a:ext cx="432554" cy="432554"/>
          </a:xfrm>
          <a:prstGeom prst="roundRect">
            <a:avLst>
              <a:gd name="adj" fmla="val 6668"/>
            </a:avLst>
          </a:prstGeom>
          <a:solidFill>
            <a:srgbClr val="404245"/>
          </a:solidFill>
          <a:ln/>
        </p:spPr>
      </p:sp>
      <p:sp>
        <p:nvSpPr>
          <p:cNvPr id="17" name="Text 15"/>
          <p:cNvSpPr/>
          <p:nvPr/>
        </p:nvSpPr>
        <p:spPr>
          <a:xfrm>
            <a:off x="7629406" y="5020330"/>
            <a:ext cx="288369" cy="36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8176141" y="5050393"/>
            <a:ext cx="3048357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Identify Trends Over Time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8176141" y="5537002"/>
            <a:ext cx="5692854" cy="60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 time series analysis to detect seasonal and cyclical patterns.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557373" y="6514981"/>
            <a:ext cx="432554" cy="432554"/>
          </a:xfrm>
          <a:prstGeom prst="roundRect">
            <a:avLst>
              <a:gd name="adj" fmla="val 6668"/>
            </a:avLst>
          </a:prstGeom>
          <a:solidFill>
            <a:srgbClr val="404245"/>
          </a:solidFill>
          <a:ln/>
        </p:spPr>
      </p:sp>
      <p:sp>
        <p:nvSpPr>
          <p:cNvPr id="21" name="Text 19"/>
          <p:cNvSpPr/>
          <p:nvPr/>
        </p:nvSpPr>
        <p:spPr>
          <a:xfrm>
            <a:off x="7629406" y="6550997"/>
            <a:ext cx="288369" cy="36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8176141" y="6581061"/>
            <a:ext cx="240339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Predict Future Sales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8176141" y="7067669"/>
            <a:ext cx="5692854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 a forecasting model to estimate upcoming sales figures.</a:t>
            </a:r>
            <a:endParaRPr lang="en-US" sz="15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AFBB4B5-7EA8-227B-E988-AF60D0BD9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722" y="4984313"/>
            <a:ext cx="6132585" cy="109741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1504985-496D-C480-FAD9-075CAA0A2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22" y="6126385"/>
            <a:ext cx="6132585" cy="94128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5CD3143-3A12-2104-300A-AE1A12919D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99764" y="7650220"/>
            <a:ext cx="1723955" cy="5408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0197" y="447080"/>
            <a:ext cx="5000625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Tools &amp; Technologies Used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620197" y="1113353"/>
            <a:ext cx="7903607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project uses Python's rich ecosystem of data science libraries, each serving a distinct role in the analytical pipeline — from data ingestion to model deployment.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20197" y="1691283"/>
            <a:ext cx="7903607" cy="1431965"/>
          </a:xfrm>
          <a:prstGeom prst="roundRect">
            <a:avLst>
              <a:gd name="adj" fmla="val 1624"/>
            </a:avLst>
          </a:prstGeom>
          <a:solidFill>
            <a:srgbClr val="404245"/>
          </a:solidFill>
          <a:ln/>
        </p:spPr>
      </p:sp>
      <p:sp>
        <p:nvSpPr>
          <p:cNvPr id="6" name="Shape 3"/>
          <p:cNvSpPr/>
          <p:nvPr/>
        </p:nvSpPr>
        <p:spPr>
          <a:xfrm>
            <a:off x="775216" y="1846302"/>
            <a:ext cx="465058" cy="465058"/>
          </a:xfrm>
          <a:prstGeom prst="roundRect">
            <a:avLst>
              <a:gd name="adj" fmla="val 19660097"/>
            </a:avLst>
          </a:prstGeom>
          <a:solidFill>
            <a:srgbClr val="84482D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089" y="1974056"/>
            <a:ext cx="209312" cy="209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5216" y="2432447"/>
            <a:ext cx="1938218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Python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5216" y="2747367"/>
            <a:ext cx="7593568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Core programming language for all data processing, analysis, and modeling tasks.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0197" y="3244334"/>
            <a:ext cx="7903607" cy="1431965"/>
          </a:xfrm>
          <a:prstGeom prst="roundRect">
            <a:avLst>
              <a:gd name="adj" fmla="val 1624"/>
            </a:avLst>
          </a:prstGeom>
          <a:solidFill>
            <a:srgbClr val="404245"/>
          </a:solidFill>
          <a:ln/>
        </p:spPr>
      </p:sp>
      <p:sp>
        <p:nvSpPr>
          <p:cNvPr id="11" name="Shape 7"/>
          <p:cNvSpPr/>
          <p:nvPr/>
        </p:nvSpPr>
        <p:spPr>
          <a:xfrm>
            <a:off x="775216" y="3399353"/>
            <a:ext cx="465058" cy="465058"/>
          </a:xfrm>
          <a:prstGeom prst="roundRect">
            <a:avLst>
              <a:gd name="adj" fmla="val 19660097"/>
            </a:avLst>
          </a:prstGeom>
          <a:solidFill>
            <a:srgbClr val="84482D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3089" y="3527108"/>
            <a:ext cx="209312" cy="209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5216" y="3985498"/>
            <a:ext cx="1938218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Pandas &amp; NumPy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775216" y="4300418"/>
            <a:ext cx="7593568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manipulation, transformation, and numerical computation at scale.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20197" y="4797385"/>
            <a:ext cx="7903607" cy="1431965"/>
          </a:xfrm>
          <a:prstGeom prst="roundRect">
            <a:avLst>
              <a:gd name="adj" fmla="val 1624"/>
            </a:avLst>
          </a:prstGeom>
          <a:solidFill>
            <a:srgbClr val="404245"/>
          </a:solidFill>
          <a:ln/>
        </p:spPr>
      </p:sp>
      <p:sp>
        <p:nvSpPr>
          <p:cNvPr id="16" name="Shape 11"/>
          <p:cNvSpPr/>
          <p:nvPr/>
        </p:nvSpPr>
        <p:spPr>
          <a:xfrm>
            <a:off x="775216" y="4952405"/>
            <a:ext cx="465058" cy="465058"/>
          </a:xfrm>
          <a:prstGeom prst="roundRect">
            <a:avLst>
              <a:gd name="adj" fmla="val 19660097"/>
            </a:avLst>
          </a:prstGeom>
          <a:solidFill>
            <a:srgbClr val="84482D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3089" y="5080159"/>
            <a:ext cx="209312" cy="209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5216" y="5538549"/>
            <a:ext cx="2021681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Matplotlib &amp; Seaborn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75216" y="5853470"/>
            <a:ext cx="7593568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Statistical visualization for histograms, boxplots, line charts, and heatmaps.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0197" y="6350437"/>
            <a:ext cx="7903607" cy="1431965"/>
          </a:xfrm>
          <a:prstGeom prst="roundRect">
            <a:avLst>
              <a:gd name="adj" fmla="val 1624"/>
            </a:avLst>
          </a:prstGeom>
          <a:solidFill>
            <a:srgbClr val="404245"/>
          </a:solidFill>
          <a:ln/>
        </p:spPr>
      </p:sp>
      <p:sp>
        <p:nvSpPr>
          <p:cNvPr id="21" name="Shape 15"/>
          <p:cNvSpPr/>
          <p:nvPr/>
        </p:nvSpPr>
        <p:spPr>
          <a:xfrm>
            <a:off x="775216" y="6505456"/>
            <a:ext cx="465058" cy="465058"/>
          </a:xfrm>
          <a:prstGeom prst="roundRect">
            <a:avLst>
              <a:gd name="adj" fmla="val 19660097"/>
            </a:avLst>
          </a:prstGeom>
          <a:solidFill>
            <a:srgbClr val="84482D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3089" y="6633210"/>
            <a:ext cx="209312" cy="2093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75216" y="7091601"/>
            <a:ext cx="1938218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775216" y="7406521"/>
            <a:ext cx="7593568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Machine learning framework used for building the Linear Regression forecasting model.</a:t>
            </a:r>
            <a:endParaRPr lang="en-US" sz="1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F8983F7-46EB-9B5E-B21F-97160D9288D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0" y="15240"/>
            <a:ext cx="5486400" cy="8214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92574"/>
            <a:ext cx="1021842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Preprocessing &amp; Feature Engineering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708666"/>
            <a:ext cx="306264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Preprocessing Steps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2217182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Before any analysis, raw data must be cleaned and standardized to ensure accuracy and consistency throughout the pipeline.</a:t>
            </a:r>
            <a:endParaRPr lang="en-US" sz="1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204" y="3081576"/>
            <a:ext cx="297656" cy="297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38632" y="3075503"/>
            <a:ext cx="291834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Handling Missing Values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438632" y="3584019"/>
            <a:ext cx="563451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Identified and imputed or removed null entries across key columns to prevent skewing results.</a:t>
            </a:r>
            <a:endParaRPr lang="en-US" sz="15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204" y="4622006"/>
            <a:ext cx="297656" cy="2976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38632" y="4615934"/>
            <a:ext cx="253019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Removing Duplicates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1438632" y="5124450"/>
            <a:ext cx="563451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Duplicate transaction records were detected and eliminated to maintain data integrity.</a:t>
            </a:r>
            <a:endParaRPr lang="en-US" sz="15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204" y="6162437"/>
            <a:ext cx="297656" cy="2976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38632" y="6156365"/>
            <a:ext cx="251531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Datetime Conversion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1438632" y="6664881"/>
            <a:ext cx="563451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Date column was converted to proper datetime format to enable time-based operations and indexing.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7421999" y="1510308"/>
            <a:ext cx="6565106" cy="6126718"/>
          </a:xfrm>
          <a:prstGeom prst="roundRect">
            <a:avLst>
              <a:gd name="adj" fmla="val 486"/>
            </a:avLst>
          </a:prstGeom>
          <a:solidFill>
            <a:srgbClr val="50352B"/>
          </a:solidFill>
          <a:ln/>
        </p:spPr>
      </p:sp>
      <p:sp>
        <p:nvSpPr>
          <p:cNvPr id="15" name="Text 10"/>
          <p:cNvSpPr/>
          <p:nvPr/>
        </p:nvSpPr>
        <p:spPr>
          <a:xfrm>
            <a:off x="7620357" y="170866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Feature Engineering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7620357" y="2217182"/>
            <a:ext cx="616839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New derived features were created to enrich the dataset and enable deeper analytical insights.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7620357" y="3075503"/>
            <a:ext cx="2985016" cy="2546271"/>
          </a:xfrm>
          <a:prstGeom prst="roundRect">
            <a:avLst>
              <a:gd name="adj" fmla="val 1169"/>
            </a:avLst>
          </a:prstGeom>
          <a:solidFill>
            <a:srgbClr val="50352B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841575" y="3296722"/>
            <a:ext cx="2542580" cy="62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Temporal Features</a:t>
            </a:r>
            <a:endParaRPr lang="en-US" sz="1950" dirty="0"/>
          </a:p>
        </p:txBody>
      </p:sp>
      <p:sp>
        <p:nvSpPr>
          <p:cNvPr id="19" name="Text 14"/>
          <p:cNvSpPr/>
          <p:nvPr/>
        </p:nvSpPr>
        <p:spPr>
          <a:xfrm>
            <a:off x="7841575" y="4123015"/>
            <a:ext cx="2542580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Extracted </a:t>
            </a:r>
            <a:r>
              <a:rPr lang="en-US" sz="15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Month</a:t>
            </a: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</a:t>
            </a:r>
            <a:r>
              <a:rPr lang="en-US" sz="15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Day</a:t>
            </a: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and </a:t>
            </a:r>
            <a:r>
              <a:rPr lang="en-US" sz="15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</a:t>
            </a: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from the Date column to support monthly and seasonal trend analysis.</a:t>
            </a:r>
            <a:endParaRPr lang="en-US" sz="1550" dirty="0"/>
          </a:p>
        </p:txBody>
      </p:sp>
      <p:sp>
        <p:nvSpPr>
          <p:cNvPr id="20" name="Shape 15"/>
          <p:cNvSpPr/>
          <p:nvPr/>
        </p:nvSpPr>
        <p:spPr>
          <a:xfrm>
            <a:off x="10803731" y="3075503"/>
            <a:ext cx="2985016" cy="2546271"/>
          </a:xfrm>
          <a:prstGeom prst="roundRect">
            <a:avLst>
              <a:gd name="adj" fmla="val 1169"/>
            </a:avLst>
          </a:prstGeom>
          <a:solidFill>
            <a:srgbClr val="50352B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1024949" y="3296722"/>
            <a:ext cx="248090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Age Groups</a:t>
            </a:r>
            <a:endParaRPr lang="en-US" sz="1950" dirty="0"/>
          </a:p>
        </p:txBody>
      </p:sp>
      <p:sp>
        <p:nvSpPr>
          <p:cNvPr id="22" name="Text 17"/>
          <p:cNvSpPr/>
          <p:nvPr/>
        </p:nvSpPr>
        <p:spPr>
          <a:xfrm>
            <a:off x="11024949" y="3812858"/>
            <a:ext cx="254258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ages were binned into categorical groups (e.g., 18–25, 26–35) for demographic segmentation.</a:t>
            </a:r>
            <a:endParaRPr lang="en-US" sz="1550" dirty="0"/>
          </a:p>
        </p:txBody>
      </p:sp>
      <p:sp>
        <p:nvSpPr>
          <p:cNvPr id="23" name="Shape 18"/>
          <p:cNvSpPr/>
          <p:nvPr/>
        </p:nvSpPr>
        <p:spPr>
          <a:xfrm>
            <a:off x="7620357" y="5820132"/>
            <a:ext cx="6168390" cy="1593652"/>
          </a:xfrm>
          <a:prstGeom prst="roundRect">
            <a:avLst>
              <a:gd name="adj" fmla="val 1868"/>
            </a:avLst>
          </a:prstGeom>
          <a:solidFill>
            <a:srgbClr val="50352B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841575" y="6041350"/>
            <a:ext cx="248090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Price per Item</a:t>
            </a:r>
            <a:endParaRPr lang="en-US" sz="1950" dirty="0"/>
          </a:p>
        </p:txBody>
      </p:sp>
      <p:sp>
        <p:nvSpPr>
          <p:cNvPr id="25" name="Text 20"/>
          <p:cNvSpPr/>
          <p:nvPr/>
        </p:nvSpPr>
        <p:spPr>
          <a:xfrm>
            <a:off x="7841575" y="6557486"/>
            <a:ext cx="572595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Computed as </a:t>
            </a:r>
            <a:r>
              <a:rPr lang="en-US" sz="15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Sales ÷ Quantity</a:t>
            </a: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to analyze unit pricing trends across product categories.</a:t>
            </a:r>
            <a:endParaRPr lang="en-US" sz="15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DC4F5FA-EC72-01B3-8BD0-3570D5051C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99764" y="7650220"/>
            <a:ext cx="1723955" cy="5408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3872"/>
            <a:ext cx="778835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Exploratory Data Analysis (EDA)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7078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EDA is the critical first step in understanding the structure, quality, and distribution of data before drawing conclusions or building models.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593520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Distribution of Sales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93789" y="6245364"/>
            <a:ext cx="4182189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histogram of sales values reveals the distribution pattern — typically right-skewed in retail data, with most transactions clustered at lower values and a few high-value outliers.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5472114" y="594151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Outlier Detection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472114" y="6251674"/>
            <a:ext cx="418230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Boxplots were used to identify statistical outliers in sales and total amount columns. Outliers were investigated to determine if they represented genuine high-value transactions or data errors.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9654422" y="617282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Dataset Summary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9638574" y="6561832"/>
            <a:ext cx="418230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Using </a:t>
            </a:r>
            <a:r>
              <a:rPr lang="en-US" sz="1550" dirty="0">
                <a:solidFill>
                  <a:srgbClr val="BDA189"/>
                </a:solidFill>
                <a:highlight>
                  <a:srgbClr val="2E30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info()</a:t>
            </a: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and </a:t>
            </a:r>
            <a:r>
              <a:rPr lang="en-US" sz="1550" dirty="0">
                <a:solidFill>
                  <a:srgbClr val="BDA189"/>
                </a:solidFill>
                <a:highlight>
                  <a:srgbClr val="2E30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describe()</a:t>
            </a: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we examined data types, non-null counts, and statistical summaries (mean, std, min, max) to assess overall data quality.</a:t>
            </a:r>
            <a:endParaRPr lang="en-US" sz="15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B0715CC-B3A4-6970-C9FB-7850375E3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33" y="3098484"/>
            <a:ext cx="4441122" cy="26165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ECB0211-806C-3BBB-4F8E-A94FE5011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575" y="3098485"/>
            <a:ext cx="3726279" cy="26165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F93542B-790F-3D34-B072-8BD7CB5666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8574" y="2867174"/>
            <a:ext cx="3392321" cy="302959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F293522-32CB-682B-0D19-82C0D8B1EE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99764" y="7650220"/>
            <a:ext cx="1723955" cy="5408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E701D6-A630-BAE3-7D24-2CBB75D9A5C6}"/>
              </a:ext>
            </a:extLst>
          </p:cNvPr>
          <p:cNvSpPr txBox="1"/>
          <p:nvPr/>
        </p:nvSpPr>
        <p:spPr>
          <a:xfrm>
            <a:off x="445477" y="553888"/>
            <a:ext cx="4876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Category Sales - Bar Chart</a:t>
            </a:r>
            <a:r>
              <a:rPr lang="en-IN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0BC87A-3D2E-7511-10EB-98067CD81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92" y="1284450"/>
            <a:ext cx="11535508" cy="64351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812CFD-5F59-26B0-2A60-DE3FAA565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9764" y="7650220"/>
            <a:ext cx="1723955" cy="54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65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4C4552-9AD3-DC5E-1315-98D736AB2538}"/>
              </a:ext>
            </a:extLst>
          </p:cNvPr>
          <p:cNvSpPr txBox="1"/>
          <p:nvPr/>
        </p:nvSpPr>
        <p:spPr>
          <a:xfrm>
            <a:off x="1508760" y="155674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Category Contribution (Pie Chart)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F21E13-325C-CBB5-F849-C8378B3F9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766" y="801620"/>
            <a:ext cx="7315200" cy="70207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9E8D49-5AE1-0CDD-14A5-27BE799EA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9764" y="7650220"/>
            <a:ext cx="1723955" cy="54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662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2162"/>
            <a:ext cx="936212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Time Series Analysis &amp; Moving Average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218253"/>
            <a:ext cx="358473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Daily Sales &amp; Quantity Trends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2726769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Plotting daily sales and quantity over time reveals inherent patterns — including weekly cycles, random fluctuations, and potential seasonal effects. Raw daily data is often noisy, making underlying trends difficult to discern visually.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70930" y="4197310"/>
            <a:ext cx="45720" cy="1189315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6" name="Text 4"/>
          <p:cNvSpPr/>
          <p:nvPr/>
        </p:nvSpPr>
        <p:spPr>
          <a:xfrm>
            <a:off x="1037868" y="422017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Daily Sales Trend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37868" y="4728686"/>
            <a:ext cx="603527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Shows revenue fluctuation day-by-day, highlighting peak and low-performing days.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70930" y="5737741"/>
            <a:ext cx="45720" cy="1189315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9" name="Text 7"/>
          <p:cNvSpPr/>
          <p:nvPr/>
        </p:nvSpPr>
        <p:spPr>
          <a:xfrm>
            <a:off x="1037868" y="5760601"/>
            <a:ext cx="251067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Daily Quantity Trend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37868" y="6269117"/>
            <a:ext cx="603527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Tracks units sold per day, useful for inventory and demand planning.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21999" y="2019895"/>
            <a:ext cx="6565106" cy="5107543"/>
          </a:xfrm>
          <a:prstGeom prst="roundRect">
            <a:avLst>
              <a:gd name="adj" fmla="val 583"/>
            </a:avLst>
          </a:prstGeom>
          <a:solidFill>
            <a:srgbClr val="84482D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357" y="2218253"/>
            <a:ext cx="325707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Moving Average Smoothing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620357" y="2726769"/>
            <a:ext cx="616839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</a:t>
            </a:r>
            <a:r>
              <a:rPr lang="en-US" sz="15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7-day rolling moving average</a:t>
            </a: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was applied to smooth out short-term noise and highlight the underlying trend in daily sales data.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620357" y="3540443"/>
            <a:ext cx="6168390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Reduces day-to-day volatility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Reveals clearer directional trends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Helps identify gradual increases or declines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Foundation for more advanced forecasting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620357" y="5197435"/>
            <a:ext cx="616839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Smoothing transforms a jagged, hard-to-interpret series into a clean, readable trend line — essential for both analysis and stakeholder communication.</a:t>
            </a:r>
            <a:endParaRPr lang="en-US" sz="15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20E9584-6380-C4D3-08EE-21FA9AD0E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9764" y="7650220"/>
            <a:ext cx="1723955" cy="5408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F80C1B-9BFF-98A4-A83E-F8DD872AE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1329007"/>
            <a:ext cx="10640014" cy="58484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549B77-C757-8298-2B33-CCF6F7440C3F}"/>
              </a:ext>
            </a:extLst>
          </p:cNvPr>
          <p:cNvSpPr txBox="1"/>
          <p:nvPr/>
        </p:nvSpPr>
        <p:spPr>
          <a:xfrm>
            <a:off x="1162050" y="291584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Daily Sales Trend Over Time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199E4C-0D0F-076A-63B8-DCD46A4A0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9764" y="7650220"/>
            <a:ext cx="1723955" cy="54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070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454575-DAB3-9857-8046-930F16853D20}"/>
              </a:ext>
            </a:extLst>
          </p:cNvPr>
          <p:cNvSpPr txBox="1"/>
          <p:nvPr/>
        </p:nvSpPr>
        <p:spPr>
          <a:xfrm>
            <a:off x="396240" y="135374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Monthly Sales Trend (Time Series)</a:t>
            </a:r>
            <a:endParaRPr lang="en-IN" sz="4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1E3129-1297-1E41-A7E8-16E427F82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41" y="907280"/>
            <a:ext cx="11392459" cy="64150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5AA984-BEBE-D5D5-AE36-8AD35CEBA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9764" y="7650220"/>
            <a:ext cx="1723955" cy="54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534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A3E90F-9BCB-D81B-CD69-7432DEA34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255" y="1158140"/>
            <a:ext cx="12539889" cy="59133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C996F0-C159-3A55-DCF4-5D5151A534CB}"/>
              </a:ext>
            </a:extLst>
          </p:cNvPr>
          <p:cNvSpPr txBox="1"/>
          <p:nvPr/>
        </p:nvSpPr>
        <p:spPr>
          <a:xfrm>
            <a:off x="1045255" y="348734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Smoothed Trend (Moving Average)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5DBF09-9DD1-E790-1E60-E7AB5D372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9764" y="7650220"/>
            <a:ext cx="1723955" cy="54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291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C594A1-48F2-B657-FEE0-2626CCA7B4FE}"/>
              </a:ext>
            </a:extLst>
          </p:cNvPr>
          <p:cNvSpPr txBox="1"/>
          <p:nvPr/>
        </p:nvSpPr>
        <p:spPr>
          <a:xfrm>
            <a:off x="1028700" y="40588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Quantity vs Sales (Scatter Plot)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D29DEC-5295-CF77-4D92-813CC71A5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873940"/>
            <a:ext cx="11353800" cy="66345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89A14A-8F97-D779-FA13-0989C7659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9764" y="7650220"/>
            <a:ext cx="1723955" cy="54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1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A2E3C2-4899-7758-23E0-EF3F0B2A536F}"/>
              </a:ext>
            </a:extLst>
          </p:cNvPr>
          <p:cNvSpPr txBox="1"/>
          <p:nvPr/>
        </p:nvSpPr>
        <p:spPr>
          <a:xfrm>
            <a:off x="666750" y="482084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Distribution of Total Sales Amount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F02A24-BC45-C229-711C-AAA2C9F24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49" y="1322045"/>
            <a:ext cx="12096751" cy="60693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06134F-7934-A956-E793-8869EC3CE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9764" y="7650220"/>
            <a:ext cx="1723955" cy="54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877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CF6179-1D28-FA18-02FE-A056CF5F4E34}"/>
              </a:ext>
            </a:extLst>
          </p:cNvPr>
          <p:cNvSpPr txBox="1"/>
          <p:nvPr/>
        </p:nvSpPr>
        <p:spPr>
          <a:xfrm>
            <a:off x="609600" y="272534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Outlier Detection in Sales Data</a:t>
            </a:r>
            <a:endParaRPr lang="en-IN" sz="36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5AEE0F-FCE0-14BB-3BF5-82A6F1D09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918865"/>
            <a:ext cx="10134600" cy="67367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A5EBD6-4435-7179-F092-D8E3CC962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9764" y="7650220"/>
            <a:ext cx="1723955" cy="54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191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08C919-2450-EB41-C3F4-D5268B6729E3}"/>
              </a:ext>
            </a:extLst>
          </p:cNvPr>
          <p:cNvSpPr txBox="1"/>
          <p:nvPr/>
        </p:nvSpPr>
        <p:spPr>
          <a:xfrm>
            <a:off x="647700" y="348734"/>
            <a:ext cx="8058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Correlation Between Numerical Features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3D2BB7-8131-6E0B-5351-EB2C513A0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031024"/>
            <a:ext cx="9839312" cy="65508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907F1C-196F-7AE2-6D18-035468669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9764" y="7650220"/>
            <a:ext cx="1723955" cy="54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75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6509" y="351949"/>
            <a:ext cx="4621292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Sales Analysis — Visual Insights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2546509" y="877372"/>
            <a:ext cx="9537383" cy="155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Visual analysis of sales data across categories, demographics, and time reveals actionable patterns that inform business strategy and forecasting.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546509" y="1189673"/>
            <a:ext cx="1511737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Category-Wise Sales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546509" y="1452324"/>
            <a:ext cx="4621173" cy="31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Bar charts highlight which product categories contribute most to total revenue, enabling inventory and marketing prioritization.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46509" y="1846659"/>
            <a:ext cx="4621173" cy="541972"/>
          </a:xfrm>
          <a:prstGeom prst="roundRect">
            <a:avLst>
              <a:gd name="adj" fmla="val 3347"/>
            </a:avLst>
          </a:prstGeom>
          <a:solidFill>
            <a:srgbClr val="02234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357" y="2013704"/>
            <a:ext cx="151090" cy="1208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39296" y="1950482"/>
            <a:ext cx="4107537" cy="31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Top-performing categories typically include Electronics, Clothing, and Home Goods in retail datasets.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470338" y="1189673"/>
            <a:ext cx="2312075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Gender-Wise &amp; Monthly Trends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470338" y="1452324"/>
            <a:ext cx="4621173" cy="31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Gender-based segmentation reveals purchasing preferences, while monthly line charts expose seasonality and growth trajectories across the year.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470338" y="1846659"/>
            <a:ext cx="4621173" cy="541972"/>
          </a:xfrm>
          <a:prstGeom prst="roundRect">
            <a:avLst>
              <a:gd name="adj" fmla="val 3347"/>
            </a:avLst>
          </a:prstGeom>
          <a:solidFill>
            <a:srgbClr val="391F1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1187" y="2013704"/>
            <a:ext cx="151090" cy="1208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63126" y="1950482"/>
            <a:ext cx="4107537" cy="31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Monthly trends often show peaks during festive seasons and dips in off-peak months.</a:t>
            </a:r>
            <a:endParaRPr lang="en-US" sz="9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6509" y="2554367"/>
            <a:ext cx="9537383" cy="5323165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6509" y="2554367"/>
            <a:ext cx="9537383" cy="53231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A7CE9B4-5210-A559-3D84-3B994B473A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99764" y="7650220"/>
            <a:ext cx="1723955" cy="54084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185079-3475-15E7-2C57-6B1E3BA69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97" y="274320"/>
            <a:ext cx="6180127" cy="75002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1AC6F0-4759-E0FC-CBE9-8DD5F364E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299" y="274320"/>
            <a:ext cx="7088061" cy="75002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BCC9CF-9E10-159F-16DF-D8ECFCFE8D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9764" y="7774573"/>
            <a:ext cx="1723955" cy="4164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D75118-0A4F-6896-BDAF-A1782D505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9764" y="7774573"/>
            <a:ext cx="1723955" cy="41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598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3F35BE-8F2B-6910-3ECD-45642168B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63" y="508356"/>
            <a:ext cx="13659222" cy="67052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689931-22AD-0C62-478E-347B9287A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9764" y="7774573"/>
            <a:ext cx="1723955" cy="41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043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8482A6-A703-6831-AA66-0F0ABC0C3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970" y="392072"/>
            <a:ext cx="8559390" cy="72888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519B81-B0CC-92EA-D3B4-680F65913264}"/>
              </a:ext>
            </a:extLst>
          </p:cNvPr>
          <p:cNvSpPr txBox="1"/>
          <p:nvPr/>
        </p:nvSpPr>
        <p:spPr>
          <a:xfrm>
            <a:off x="10058400" y="1433096"/>
            <a:ext cx="420624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We wrote the code and got some final conclusions about the top category ,Least category.</a:t>
            </a:r>
          </a:p>
          <a:p>
            <a:r>
              <a:rPr lang="en-IN" sz="4000" dirty="0">
                <a:solidFill>
                  <a:schemeClr val="bg1"/>
                </a:solidFill>
              </a:rPr>
              <a:t>The Total amount sold of different categories decided by gender Male and Female.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E64E30-7E38-5A45-A74D-5C2AC92F302A}"/>
              </a:ext>
            </a:extLst>
          </p:cNvPr>
          <p:cNvSpPr txBox="1"/>
          <p:nvPr/>
        </p:nvSpPr>
        <p:spPr>
          <a:xfrm>
            <a:off x="10075491" y="392072"/>
            <a:ext cx="40215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bg1"/>
                </a:solidFill>
              </a:rPr>
              <a:t>Insights: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814004-FAE3-FE1B-BBB8-FD5E826D1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9764" y="7774573"/>
            <a:ext cx="1723955" cy="41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856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57570"/>
            <a:ext cx="968061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Insights, Conclusion &amp; Future Scope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673662"/>
            <a:ext cx="248090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Key Insights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93790" y="2214682"/>
            <a:ext cx="12119570" cy="1586032"/>
          </a:xfrm>
          <a:prstGeom prst="roundRect">
            <a:avLst>
              <a:gd name="adj" fmla="val 6918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930" y="2214682"/>
            <a:ext cx="91440" cy="1586032"/>
          </a:xfrm>
          <a:prstGeom prst="roundRect">
            <a:avLst>
              <a:gd name="adj" fmla="val 32558"/>
            </a:avLst>
          </a:prstGeom>
          <a:solidFill>
            <a:srgbClr val="84482D"/>
          </a:solidFill>
          <a:ln/>
        </p:spPr>
      </p:sp>
      <p:sp>
        <p:nvSpPr>
          <p:cNvPr id="6" name="Text 4"/>
          <p:cNvSpPr/>
          <p:nvPr/>
        </p:nvSpPr>
        <p:spPr>
          <a:xfrm>
            <a:off x="1083588" y="24359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Top-Selling Category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83588" y="2944416"/>
            <a:ext cx="576834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product category consistently dominated revenue, signaling strong market demand.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93790" y="3999071"/>
            <a:ext cx="12119570" cy="1586032"/>
          </a:xfrm>
          <a:prstGeom prst="roundRect">
            <a:avLst>
              <a:gd name="adj" fmla="val 6918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0930" y="3999071"/>
            <a:ext cx="91440" cy="1586032"/>
          </a:xfrm>
          <a:prstGeom prst="roundRect">
            <a:avLst>
              <a:gd name="adj" fmla="val 32558"/>
            </a:avLst>
          </a:prstGeom>
          <a:solidFill>
            <a:srgbClr val="84482D"/>
          </a:solidFill>
          <a:ln/>
        </p:spPr>
      </p:sp>
      <p:sp>
        <p:nvSpPr>
          <p:cNvPr id="10" name="Text 8"/>
          <p:cNvSpPr/>
          <p:nvPr/>
        </p:nvSpPr>
        <p:spPr>
          <a:xfrm>
            <a:off x="1083588" y="422028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Sales Patterns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83588" y="4728805"/>
            <a:ext cx="576834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Clear monthly seasonality and weekly fluctuations were observed across the time series.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5783461"/>
            <a:ext cx="12119570" cy="1586032"/>
          </a:xfrm>
          <a:prstGeom prst="roundRect">
            <a:avLst>
              <a:gd name="adj" fmla="val 6918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0930" y="5783461"/>
            <a:ext cx="91440" cy="1586032"/>
          </a:xfrm>
          <a:prstGeom prst="roundRect">
            <a:avLst>
              <a:gd name="adj" fmla="val 32558"/>
            </a:avLst>
          </a:prstGeom>
          <a:solidFill>
            <a:srgbClr val="84482D"/>
          </a:solidFill>
          <a:ln/>
        </p:spPr>
      </p:sp>
      <p:sp>
        <p:nvSpPr>
          <p:cNvPr id="14" name="Text 12"/>
          <p:cNvSpPr/>
          <p:nvPr/>
        </p:nvSpPr>
        <p:spPr>
          <a:xfrm>
            <a:off x="1083588" y="600467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Customer Behavior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83588" y="6513195"/>
            <a:ext cx="576834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Demographic segmentation revealed distinct purchasing preferences by age group and gender.</a:t>
            </a:r>
            <a:endParaRPr lang="en-US" sz="15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B5CE870-FBD8-7C89-FC61-6A0EDE0B4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9764" y="7774573"/>
            <a:ext cx="1723955" cy="41649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4">
            <a:extLst>
              <a:ext uri="{FF2B5EF4-FFF2-40B4-BE49-F238E27FC236}">
                <a16:creationId xmlns:a16="http://schemas.microsoft.com/office/drawing/2014/main" id="{2FD29FAC-4CAF-EEB5-EC82-00AC1511984E}"/>
              </a:ext>
            </a:extLst>
          </p:cNvPr>
          <p:cNvSpPr/>
          <p:nvPr/>
        </p:nvSpPr>
        <p:spPr>
          <a:xfrm>
            <a:off x="1404679" y="1170146"/>
            <a:ext cx="11821041" cy="6196727"/>
          </a:xfrm>
          <a:prstGeom prst="roundRect">
            <a:avLst>
              <a:gd name="adj" fmla="val 480"/>
            </a:avLst>
          </a:prstGeom>
          <a:solidFill>
            <a:srgbClr val="50352B"/>
          </a:solidFill>
          <a:ln/>
        </p:spPr>
      </p:sp>
      <p:sp>
        <p:nvSpPr>
          <p:cNvPr id="3" name="Text 15">
            <a:extLst>
              <a:ext uri="{FF2B5EF4-FFF2-40B4-BE49-F238E27FC236}">
                <a16:creationId xmlns:a16="http://schemas.microsoft.com/office/drawing/2014/main" id="{07A0BC67-2CFA-B77A-D523-C275716EF7AF}"/>
              </a:ext>
            </a:extLst>
          </p:cNvPr>
          <p:cNvSpPr/>
          <p:nvPr/>
        </p:nvSpPr>
        <p:spPr>
          <a:xfrm>
            <a:off x="1603038" y="1368505"/>
            <a:ext cx="4467084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Conclusion</a:t>
            </a:r>
            <a:endParaRPr lang="en-US" sz="1950" dirty="0"/>
          </a:p>
        </p:txBody>
      </p:sp>
      <p:sp>
        <p:nvSpPr>
          <p:cNvPr id="4" name="Text 16">
            <a:extLst>
              <a:ext uri="{FF2B5EF4-FFF2-40B4-BE49-F238E27FC236}">
                <a16:creationId xmlns:a16="http://schemas.microsoft.com/office/drawing/2014/main" id="{817F0718-8250-858D-B344-05DE77792B2A}"/>
              </a:ext>
            </a:extLst>
          </p:cNvPr>
          <p:cNvSpPr/>
          <p:nvPr/>
        </p:nvSpPr>
        <p:spPr>
          <a:xfrm>
            <a:off x="1603038" y="1884641"/>
            <a:ext cx="1110672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project demonstrated that </a:t>
            </a:r>
            <a:r>
              <a:rPr lang="en-US" sz="15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EDA</a:t>
            </a: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uncovers hidden data patterns, </a:t>
            </a:r>
            <a:r>
              <a:rPr lang="en-US" sz="15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time series analysis</a:t>
            </a: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reveals temporal trends, and </a:t>
            </a:r>
            <a:r>
              <a:rPr lang="en-US" sz="15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forecasting</a:t>
            </a: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enables proactive business planning. Together, they form a complete analytical framework for data-driven retail decision-making.</a:t>
            </a:r>
            <a:endParaRPr lang="en-US" sz="1550" dirty="0"/>
          </a:p>
        </p:txBody>
      </p:sp>
      <p:sp>
        <p:nvSpPr>
          <p:cNvPr id="5" name="Shape 17">
            <a:extLst>
              <a:ext uri="{FF2B5EF4-FFF2-40B4-BE49-F238E27FC236}">
                <a16:creationId xmlns:a16="http://schemas.microsoft.com/office/drawing/2014/main" id="{C6ACA4B3-7060-89D0-AB03-1520F40FB08D}"/>
              </a:ext>
            </a:extLst>
          </p:cNvPr>
          <p:cNvSpPr/>
          <p:nvPr/>
        </p:nvSpPr>
        <p:spPr>
          <a:xfrm>
            <a:off x="1603038" y="3745111"/>
            <a:ext cx="11106720" cy="14883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18">
            <a:extLst>
              <a:ext uri="{FF2B5EF4-FFF2-40B4-BE49-F238E27FC236}">
                <a16:creationId xmlns:a16="http://schemas.microsoft.com/office/drawing/2014/main" id="{F38B9A78-678C-6DF4-090A-6C0E7D552B05}"/>
              </a:ext>
            </a:extLst>
          </p:cNvPr>
          <p:cNvSpPr/>
          <p:nvPr/>
        </p:nvSpPr>
        <p:spPr>
          <a:xfrm>
            <a:off x="1603038" y="4032766"/>
            <a:ext cx="4467084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Future Scope</a:t>
            </a:r>
            <a:endParaRPr lang="en-US" sz="1950" dirty="0"/>
          </a:p>
        </p:txBody>
      </p:sp>
      <p:sp>
        <p:nvSpPr>
          <p:cNvPr id="7" name="Text 19">
            <a:extLst>
              <a:ext uri="{FF2B5EF4-FFF2-40B4-BE49-F238E27FC236}">
                <a16:creationId xmlns:a16="http://schemas.microsoft.com/office/drawing/2014/main" id="{2AFA70F5-7A84-B412-D890-5FBD8A722436}"/>
              </a:ext>
            </a:extLst>
          </p:cNvPr>
          <p:cNvSpPr/>
          <p:nvPr/>
        </p:nvSpPr>
        <p:spPr>
          <a:xfrm>
            <a:off x="1603038" y="4548902"/>
            <a:ext cx="11106720" cy="2748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 </a:t>
            </a:r>
            <a:r>
              <a:rPr lang="en-US" sz="15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ARIMA/SARIMA</a:t>
            </a: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models for more accurate seasonal forecasting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 </a:t>
            </a:r>
            <a:r>
              <a:rPr lang="en-US" sz="15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real-time prediction pipelines</a:t>
            </a: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integrated with live sales data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Integrate with </a:t>
            </a:r>
            <a:r>
              <a:rPr lang="en-US" sz="15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intelligence dashboards</a:t>
            </a: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for operational use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Explore </a:t>
            </a:r>
            <a:r>
              <a:rPr lang="en-US" sz="15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ensemble models</a:t>
            </a: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(Random Forest, XGBoost) for improved accuracy</a:t>
            </a:r>
            <a:endParaRPr lang="en-US" sz="15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E252D5-A203-FCF3-C2B4-193303B43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9764" y="7774573"/>
            <a:ext cx="1723955" cy="41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682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1118</Words>
  <Application>Microsoft Office PowerPoint</Application>
  <PresentationFormat>Custom</PresentationFormat>
  <Paragraphs>135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Manrope</vt:lpstr>
      <vt:lpstr>Prata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Dev Anand</dc:creator>
  <cp:lastModifiedBy>Dev Anand</cp:lastModifiedBy>
  <cp:revision>3</cp:revision>
  <dcterms:created xsi:type="dcterms:W3CDTF">2026-04-19T15:31:46Z</dcterms:created>
  <dcterms:modified xsi:type="dcterms:W3CDTF">2026-04-19T18:27:24Z</dcterms:modified>
</cp:coreProperties>
</file>